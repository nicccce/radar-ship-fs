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the IRFS project - Interactive Reinforcement Learning Feature Selection. The core question: can a Decision Tree put 'in the loop' of a RL feature selector beat classical methods?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WDBC is the sanity check - if the pipeline can't work here, nothing else matters. Parkinson's is where it gets genuinely hard: 753 features on 480 training rows (p &gt; n), 3:1 class imbalance, and a subject-aware split to prevent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classical methods are all single-shot - they decide once and return a subset. Simple RL learns iteratively but without coaching or a rich feature state. These five are the bar that full IRFS must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the loop keeps the best-ever subset, not the final step. Agents improve over 250 rounds but there is no coaching or feature-specific reward - that is what Full IRFS adds.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improvements over Simple RL: coaching hesitant agents, richer per-feature state, personalized reward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targeted improvements over Simple RL: trainer coaching prevents premature deselection; richer state gives each agent more context; personalized reward sharpens credit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ablation study is designed to answer not just 'does it work' but 'which part earns its keep'. This is what makes the result scientifically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IRFS can help on hard high-dimensional datasets but trades compactness for accuracy. It is not automatically better than classical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curves showing validation accuracy over training steps for WDBC and Parkinsons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paper Fig. 9. No std or seed reported; random 80/20 split is not subject-leakage-free. PRD, Musk, and ESR have grouped structure that makes random splitting questionable.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RL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Decision-Tree-coached RL learner outperform classical feature selection?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315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Yigal Meshulam  ·  Yuval Wilf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IRFS  ·  One honest benchmark pipeline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8521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Section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Guiding Question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Dataset Selection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4A6D8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Which datasets put the method to the test?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Baselines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4A6D8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What are we comparing against?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IRFS Method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4A6D8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How does Full IRFS improve on simple RL?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Ablation Design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4A6D8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Which IRFS components actually matter?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Results &amp; Takeaways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4A6D8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Does IRFS outperform the alternatives?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External Datasets Test Different Failure Modes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406908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280160"/>
            <a:ext cx="4069080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47288" y="1399032"/>
            <a:ext cx="850392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47288" y="1399032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WDBC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63624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Wisconsin Diagnostic Breast Cancer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 samples · 30 real-valued features · binary target (malignant vs. benign). Features describe cell shape and texture from biopsy images: radius, area, smoothness, etc. No missing values.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3794760" cy="1143000"/>
          </a:xfrm>
          <a:prstGeom prst="roundRect">
            <a:avLst>
              <a:gd name="adj" fmla="val 5600"/>
            </a:avLst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6440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493008"/>
            <a:ext cx="3520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compact, well-known biomedical benchmark. Good for checking whether the pipeline works under a clean, low-dimensional setting.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406908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80160"/>
            <a:ext cx="406908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399032"/>
            <a:ext cx="850392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0688" y="1399032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32588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Parkinson's Disease Classification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8745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1031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756 voice recordings from 252 subjects: 188 Parkinson's patients and 64 healthy controls, with 3 sustained vowel recordings per subject. In our pipeline: 753 candidate features after dropping subject id and target class. No missing values.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154680"/>
            <a:ext cx="3794760" cy="1143000"/>
          </a:xfrm>
          <a:prstGeom prst="roundRect">
            <a:avLst>
              <a:gd name="adj" fmla="val 5600"/>
            </a:avLst>
          </a:prstGeom>
          <a:solidFill>
            <a:srgbClr val="EBF0F7"/>
          </a:solidFill>
          <a:ln w="12700">
            <a:solidFill>
              <a:srgbClr val="EBF0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26440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3493008"/>
            <a:ext cx="3520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high-dimensional biomedical dataset where feature selection really matters. Because each subject has repeated recordings, the split must be subject-aware to avoid leakage.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 - Classical + MARLFS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classical single-shot methods and one iterative RL baseline - all scored by the same probe on the same splits.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42944"/>
            <a:ext cx="2743200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361816"/>
            <a:ext cx="749808" cy="201168"/>
          </a:xfrm>
          <a:prstGeom prst="roundRect">
            <a:avLst>
              <a:gd name="adj" fmla="val 2272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6181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52728" y="13343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Top-k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695572"/>
            <a:ext cx="2523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features by their correlation with the label and keeps the top half. Fast, but blind to redundancy between features.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44538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pass · fixed size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242944"/>
            <a:ext cx="2743200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36181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3618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50208" y="1334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Recursive Elimination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695572"/>
            <a:ext cx="2523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Decision Tree, drop the least-used feature, rebuild, repeat until half remain. Re-evaluates survivors each round.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244538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· fixed size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242944"/>
            <a:ext cx="2743200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1361816"/>
            <a:ext cx="749808" cy="201168"/>
          </a:xfrm>
          <a:prstGeom prst="roundRect">
            <a:avLst>
              <a:gd name="adj" fmla="val 2272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36181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13448" y="13343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0488" y="1695572"/>
            <a:ext cx="2523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Redundancy Maximum Relevance. Picks features that are relevant to the target and non-redundant with each other.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0488" y="244538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coverage · fixed size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14500" y="3094604"/>
            <a:ext cx="2743200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4228" y="3213476"/>
            <a:ext cx="749808" cy="201168"/>
          </a:xfrm>
          <a:prstGeom prst="roundRect">
            <a:avLst>
              <a:gd name="adj" fmla="val 2272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4228" y="321347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47188" y="31860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LASSO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24228" y="3547232"/>
            <a:ext cx="2523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model with an L1 penalty; features whose influence collapses to zero are dropped. Decides its own subset size.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4228" y="429704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size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86300" y="3094604"/>
            <a:ext cx="2743200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6028" y="3213476"/>
            <a:ext cx="749808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6028" y="321347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18988" y="31860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MARLFS (Simple RL)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96028" y="3547232"/>
            <a:ext cx="2523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baseline: one agent per feature learns whether to keep or drop it.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96028" y="429704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· learned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RL - How the Loop Works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0" y="1783080"/>
            <a:ext cx="1828800" cy="1828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77640" y="2103120"/>
            <a:ext cx="1188720" cy="1188720"/>
          </a:xfrm>
          <a:prstGeom prst="ellipse">
            <a:avLst/>
          </a:prstGeom>
          <a:solidFill>
            <a:srgbClr val="F0F8FC"/>
          </a:solidFill>
          <a:ln w="12700">
            <a:solidFill>
              <a:srgbClr val="F0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0" y="217627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rot="2700000">
            <a:off x="5013987" y="2104617"/>
            <a:ext cx="182880" cy="118872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8100000">
            <a:off x="5013987" y="3171471"/>
            <a:ext cx="182880" cy="118872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3500000">
            <a:off x="3947133" y="3171471"/>
            <a:ext cx="182880" cy="118872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8900000">
            <a:off x="3947133" y="2104617"/>
            <a:ext cx="182880" cy="118872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438912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34640" y="438912"/>
            <a:ext cx="3474720" cy="274320"/>
          </a:xfrm>
          <a:prstGeom prst="roundRect">
            <a:avLst>
              <a:gd name="adj" fmla="val 2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466344"/>
            <a:ext cx="219456" cy="21945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7792" y="466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4754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Subset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768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the search with a random half-subset - not empty, not all features. Gives the loop a valid world to improve from.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0" y="1170432"/>
            <a:ext cx="3291840" cy="384048"/>
          </a:xfrm>
          <a:prstGeom prst="rect">
            <a:avLst/>
          </a:prstGeom>
          <a:solidFill>
            <a:srgbClr val="E3EFF5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118872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sample(F, max(1, </a:t>
            </a:r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2))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19202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23560" y="1920240"/>
            <a:ext cx="3291840" cy="274320"/>
          </a:xfrm>
          <a:prstGeom prst="roundRect">
            <a:avLst>
              <a:gd name="adj" fmla="val 2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96712" y="1947672"/>
            <a:ext cx="219456" cy="21945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96712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9320" y="1956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and Vote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22494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sees its own [relevance, redundancy] state and votes SELECT or DESELECT ε-greedily.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15000" y="2651760"/>
            <a:ext cx="3108960" cy="768096"/>
          </a:xfrm>
          <a:prstGeom prst="rect">
            <a:avLst/>
          </a:prstGeom>
          <a:solidFill>
            <a:srgbClr val="E3EFF5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51576" y="2670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[|corr(</a:t>
            </a:r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lnSpc>
                <a:spcPct val="150000"/>
              </a:lnSpc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)|,  mean|corr(</a:t>
            </a:r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lnSpc>
                <a:spcPct val="150000"/>
              </a:lnSpc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lnSpc>
                <a:spcPct val="150000"/>
              </a:lnSpc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)|]
</a:t>
            </a:r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lnSpc>
                <a:spcPct val="150000"/>
              </a:lnSpc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ε-greedy(</a:t>
            </a:r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pPr indent="0" marL="0">
              <a:lnSpc>
                <a:spcPct val="150000"/>
              </a:lnSpc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)),  ε = 0.1
</a:t>
            </a:r>
            <a:pPr indent="0" marL="0">
              <a:lnSpc>
                <a:spcPct val="150000"/>
              </a:lnSpc>
              <a:buNone/>
            </a:pPr>
            <a:r>
              <a:rPr lang="en-US" sz="8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pPr indent="0" marL="0">
              <a:lnSpc>
                <a:spcPct val="150000"/>
              </a:lnSpc>
              <a:buNone/>
            </a:pPr>
            <a:r>
              <a:rPr lang="en-US" sz="8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Linear(2,128)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| 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| 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Linear(128,128)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| 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| 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Linear(128,2)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34640" y="374904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834640" y="3749040"/>
            <a:ext cx="347472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07792" y="3776472"/>
            <a:ext cx="219456" cy="21945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07792" y="3776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37856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Reward the Subset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26080" y="40782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SELECT votes into a subset, score validation accuracy, and penalize redundancy.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926080" y="4480560"/>
            <a:ext cx="3291840" cy="493776"/>
          </a:xfrm>
          <a:prstGeom prst="rect">
            <a:avLst/>
          </a:prstGeom>
          <a:solidFill>
            <a:srgbClr val="E3EFF5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62656" y="4498848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reward(</a:t>
            </a:r>
            <a:pPr indent="0" marL="0">
              <a:lnSpc>
                <a:spcPct val="150000"/>
              </a:lnSpc>
              <a:buNone/>
            </a:pPr>
            <a:r>
              <a:rPr lang="en-US" sz="900" b="1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acc(</a:t>
            </a:r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− β · penalty(</a:t>
            </a:r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
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penalty(</a:t>
            </a:r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mean</a:t>
            </a:r>
            <a:pPr indent="0" marL="0">
              <a:lnSpc>
                <a:spcPct val="150000"/>
              </a:lnSpc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i&lt;j∈S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|corr(</a:t>
            </a:r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lnSpc>
                <a:spcPct val="150000"/>
              </a:lnSpc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lnSpc>
                <a:spcPct val="150000"/>
              </a:lnSpc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)|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19202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1920240"/>
            <a:ext cx="3291840" cy="274320"/>
          </a:xfrm>
          <a:prstGeom prst="roundRect">
            <a:avLst>
              <a:gd name="adj" fmla="val 23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1752" y="1947672"/>
            <a:ext cx="219456" cy="21945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" y="1956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Learn, Carry Forward, Repeat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" y="22494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agent's transition, apply a Q-learning update to its value network, and carry the subset into the next step.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2651760"/>
            <a:ext cx="3108960" cy="768096"/>
          </a:xfrm>
          <a:prstGeom prst="rect">
            <a:avLst/>
          </a:prstGeom>
          <a:solidFill>
            <a:srgbClr val="E3EFF5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6616" y="2670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target(</a:t>
            </a:r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reward + γ · max </a:t>
            </a:r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pPr indent="0" marL="0"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′</a:t>
            </a:r>
            <a:pPr indent="0" marL="0">
              <a:buNone/>
            </a:pPr>
            <a:r>
              <a:rPr lang="en-US" sz="900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),  γ = 0.9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</a:t>
            </a:r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steps  →  return best-ever subset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IRFS - Three Additions to Simple RL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IRFS adds three targeted improvements to Simple RL: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065A82">
              <a:alpha val="6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609344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4173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Hesitates with Trainers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17830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useful features from being dropped too early.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065A82">
              <a:alpha val="6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75234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5603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State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5568" y="29260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each agent judge a feature in context, not alone.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065A82">
              <a:alpha val="6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895344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37033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Reward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15568" y="40690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clearer credit to the features that actually helped.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IRFS Adds Coaching, Context, and Credit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78992"/>
            <a:ext cx="2651760" cy="2759659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78992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764792"/>
            <a:ext cx="2651760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and Decision Tree trainers help hesitant agents avoid dropping useful features too early.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078992"/>
            <a:ext cx="2651760" cy="2759659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78992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764792"/>
            <a:ext cx="265176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1704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0" y="13898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State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208483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judge features with more context: value statistics, feature correlations, and tree importance of selected features.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078992"/>
            <a:ext cx="2651760" cy="2759659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78992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764792"/>
            <a:ext cx="265176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704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63640" y="13898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Reward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08483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importance becomes a reward multiplier, giving stronger credit to features that actually helped.</a:t>
            </a:r>
            <a:endParaRPr lang="en-US" sz="13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125419"/>
            <a:ext cx="1005840" cy="603504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3125419"/>
            <a:ext cx="1005840" cy="603504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125419"/>
            <a:ext cx="100584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Reinforced Coaching Variants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variants keep the same state and reward. Only the coaching source changes.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527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No-trainer RL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20440" y="1527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None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1527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coaching baseline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82296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21992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Relevance-only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Relevance trainer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from feature-label relevance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82296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72384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DT-importance-only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3227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Decision Tree importance trainer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2278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from DT feature importance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22776"/>
            <a:ext cx="8229600" cy="594360"/>
          </a:xfrm>
          <a:prstGeom prst="roundRect">
            <a:avLst>
              <a:gd name="adj" fmla="val 10769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922776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IRFS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20440" y="40782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Relevance → DT-importance → withdrawn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0782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method - Hybrid Teaching schedule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isolates the coaching effect: same state, same reward, different advice source.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WDBC Final Results: Test Accuracy, Validation Accuracy, and Feature Count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21792"/>
          <a:ext cx="85953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71600"/>
                <a:gridCol w="1417320"/>
                <a:gridCol w="1417320"/>
                <a:gridCol w="1005840"/>
                <a:gridCol w="1353312"/>
                <a:gridCol w="1344168"/>
              </a:tblGrid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Win. Best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Win. Avg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relevance_topk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91.75% ± 2.49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91.87% ± 3.16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 ± 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dt_rfe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91.49% ± 3.07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92.09% ± 3.06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 ± 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mrmr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91.40% ± 3.03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92.20% ± 3.13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 ± 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93.42% ± 1.81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91.54% ± 3.07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 ± 2.3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MARLFS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marlfs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91.14% ± 3.05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97.58% ± 1.78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 ± 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no_trainer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92.54% ± 1.81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96.92% ± 2.31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 ± 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92.19% ± 3.37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95.71% ± 2.81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 ± 4.0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dt_importance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92.02% ± 2.36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95.27% ± 2.84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 ± 2.3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IRFS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full_irfs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91.49% ± 3.18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96.48% ± 2.73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 ± 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46360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pPr indent="0" marL="0">
              <a:buNone/>
            </a:pPr>
            <a:r>
              <a:rPr lang="en-US" sz="95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wins test accuracy and compactness. </a:t>
            </a:r>
            <a:pPr indent="0" marL="0">
              <a:buNone/>
            </a:pPr>
            <a:r>
              <a:rPr lang="en-US" sz="95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MARLFS</a:t>
            </a:r>
            <a:pPr indent="0" marL="0">
              <a:buNone/>
            </a:pPr>
            <a:r>
              <a:rPr lang="en-US" sz="95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leads validation.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mean ± std over 10 seeds.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Parkinsons Final Results: Test Accuracy, Validation Accuracy, and Feature Count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21792"/>
          <a:ext cx="85953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71600"/>
                <a:gridCol w="1417320"/>
                <a:gridCol w="1417320"/>
                <a:gridCol w="1005840"/>
                <a:gridCol w="1353312"/>
                <a:gridCol w="1344168"/>
              </a:tblGrid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Win. Best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Win. Avg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relevance_topk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74.25% ± 2.87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75.77% ± 5.90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376.0 ± 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dt_rfe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71.24% ± 5.49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73.50% ± 6.26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376.0 ± 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mrmr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72.81% ± 3.48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74.63% ± 4.68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376.0 ± 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70.59% ± 4.69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76.10% ± 3.53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122.2 ± 9.7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MARLFS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marlfs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69.02% ± 6.71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85.37% ± 3.45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368.6 ± 15.0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F6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no_trainer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70.46% ± 3.71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84.23% ± 3.38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398.8 ± 15.0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73.79%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72.29% ± 4.10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81.14% ± 4.04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527.0 ± 29.9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dt_importance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72.55% ± 4.13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79.35% ± 4.17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404.8 ± 18.9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full_irfs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75.16% ± 2.61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83.09% ± 2.95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431.6 ± 49.5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83.09%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8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46360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IRFS</a:t>
            </a:r>
            <a:pPr indent="0" marL="0">
              <a:buNone/>
            </a:pPr>
            <a:r>
              <a:rPr lang="en-US" sz="95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wins test accuracy. </a:t>
            </a:r>
            <a:pPr indent="0" marL="0">
              <a:buNone/>
            </a:pPr>
            <a:r>
              <a:rPr lang="en-US" sz="95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MARLFS</a:t>
            </a:r>
            <a:pPr indent="0" marL="0">
              <a:buNone/>
            </a:pPr>
            <a:r>
              <a:rPr lang="en-US" sz="95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wins validation. </a:t>
            </a:r>
            <a:pPr indent="0" marL="0">
              <a:buNone/>
            </a:pPr>
            <a:r>
              <a:rPr lang="en-US" sz="95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pPr indent="0" marL="0">
              <a:buNone/>
            </a:pPr>
            <a:r>
              <a:rPr lang="en-US" sz="95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most compact (122 vs. 368-432 features).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mean ± std over 10 seeds; Parkinsons split is subject-aware to prevent repeated-recording leakage.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4114800" cy="411480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64592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Verdict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IRFS earns its complexity only on hard, high-dimensional tasks.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850392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50000"/>
            </a:srgbClr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50392"/>
            <a:ext cx="822960" cy="96012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850392"/>
            <a:ext cx="36576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50392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85039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IRFS wins on the harder Parkinsons task.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94640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75.16%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3304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74.25% classical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50000"/>
            </a:srgbClr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01952"/>
            <a:ext cx="822960" cy="96012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1901952"/>
            <a:ext cx="36576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01952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190195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low-dim WDBC benchmark, L1 is both more accurate and more compact.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199796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L1: 93.42%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23820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91.49% IRFS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53512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50000"/>
            </a:srgbClr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53512"/>
            <a:ext cx="822960" cy="96012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2953512"/>
            <a:ext cx="36576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53512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295351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Parkinsons, IRFS buys accuracy by keeping many more features.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304952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431.6 feat.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37960" y="34335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L1: 122.2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096512"/>
            <a:ext cx="54864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096512"/>
            <a:ext cx="8156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·  Use IRFS when high-dimensional interactions matter and accuracy is worth a larger feature set; prefer simpler methods when compactness matters.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1: Learning Curves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WDBC</a:t>
            </a:r>
            <a:endParaRPr lang="en-US" sz="1300" dirty="0"/>
          </a:p>
        </p:txBody>
      </p:sp>
      <p:pic>
        <p:nvPicPr>
          <p:cNvPr id="4" name="Image 0" descr="/sessions/funny-ecstatic-lovelace/mnt/technical-reviews/wdbc_lear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49808"/>
            <a:ext cx="41148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440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Parkinsons</a:t>
            </a:r>
            <a:endParaRPr lang="en-US" sz="1300" dirty="0"/>
          </a:p>
        </p:txBody>
      </p:sp>
      <p:pic>
        <p:nvPicPr>
          <p:cNvPr id="6" name="Image 1" descr="/sessions/funny-ecstatic-lovelace/mnt/technical-reviews/parkinsons_learning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49808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2: Original Paper Results (Fig. 9)</a:t>
            </a:r>
            <a:endParaRPr lang="en-US" sz="2200" dirty="0"/>
          </a:p>
        </p:txBody>
      </p:sp>
      <p:pic>
        <p:nvPicPr>
          <p:cNvPr id="3" name="Image 0" descr="/sessions/funny-ecstatic-lovelace/mnt/technical-reviews/Screenshot 2026-07-07 at 17.12.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75488"/>
            <a:ext cx="8595360" cy="3108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3675888"/>
            <a:ext cx="8595360" cy="1325880"/>
          </a:xfrm>
          <a:prstGeom prst="roundRect">
            <a:avLst>
              <a:gd name="adj" fmla="val 4828"/>
            </a:avLst>
          </a:prstGeom>
          <a:solidFill>
            <a:srgbClr val="FFF4CC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3675888"/>
            <a:ext cx="54864" cy="1325880"/>
          </a:xfrm>
          <a:prstGeom prst="roundRect">
            <a:avLst>
              <a:gd name="adj" fmla="val 50000"/>
            </a:avLst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3749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standard deviation or random seed reported.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5488" y="41513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Random 80/20 split - not subject-leakage-free.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5488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Most questionable for PRD, Musk, and ESR: these datasets have grouped structure that a stronger evaluation should respect.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Reinforcement Learning Feature Selection (IRFS)</dc:title>
  <dc:subject>PptxGenJS Presentation</dc:subject>
  <dc:creator>PptxGenJS</dc:creator>
  <cp:lastModifiedBy>PptxGenJS</cp:lastModifiedBy>
  <cp:revision>1</cp:revision>
  <dcterms:created xsi:type="dcterms:W3CDTF">2026-07-09T06:50:19Z</dcterms:created>
  <dcterms:modified xsi:type="dcterms:W3CDTF">2026-07-09T06:50:19Z</dcterms:modified>
</cp:coreProperties>
</file>